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it plainly: the system already works. To put it on the internet at our own address we pay for three things. Most of it can start free; the only real recurring cost is the database once we go always-on.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idea for the office: these are three recurring rentals, not a one-time purchase. The good news is two of them have a free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Stress: the domain is the only thing we MUST pay for from day one, and it's under ₱100/month.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answers their real question. Point: we can launch for about ₱1,000 a year (domain only). The database subscription (~₱1,560/mo) only becomes worth it once we're truly live and want no downtime + backups. Costs scale with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one-sentence takeaway: launch for ~₱1,000/year, then budget about ₱1,650/month once it's a real always-on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them: publishing is drag-and-drop. The database step is occasional and only when a feature adds new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two numbers: ₱1,000 to start, ~₱1,650/month when fully live.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1051560"/>
            <a:ext cx="155448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216152"/>
            <a:ext cx="1225296" cy="12252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1">
                <a:solidFill>
                  <a:srgbClr val="E11B22"/>
                </a:solidFill>
                <a:latin typeface="Calibri"/>
              </a:defRPr>
            </a:pPr>
            <a:r>
              <a:t>TAKING THE WEBSITE LIVE  ·  FOR THE MAIN OFFICE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Putting Lucky Lion Online</a:t>
            </a:r>
            <a:br/>
            <a:r>
              <a:t>What It Takes &amp; What It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1600" b="0">
                <a:solidFill>
                  <a:srgbClr val="C9CCD2"/>
                </a:solidFill>
                <a:latin typeface="Calibri"/>
              </a:defRPr>
            </a:pPr>
            <a:r>
              <a:t>The three things a live website needs — a web address, a database, and hosting — and the real monthly cost in pesos as the shop grows.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960120" cy="64008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2700" b="1">
                <a:solidFill>
                  <a:srgbClr val="141414"/>
                </a:solidFill>
                <a:latin typeface="Calibri"/>
              </a:defRPr>
            </a:pPr>
            <a:r>
              <a:t>What a live website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6B707B"/>
                </a:solidFill>
                <a:latin typeface="Calibri"/>
              </a:defRPr>
            </a:pPr>
            <a:r>
              <a:t>Three separate things — each is rented, not bought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356616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3400" b="0">
                <a:solidFill>
                  <a:srgbClr val="141414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900" b="1">
                <a:solidFill>
                  <a:srgbClr val="E11B22"/>
                </a:solidFill>
                <a:latin typeface="Calibri"/>
              </a:defRPr>
            </a:pPr>
            <a:r>
              <a:t>1 ·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6B707B"/>
                </a:solidFill>
                <a:latin typeface="Calibri"/>
              </a:defRPr>
            </a:pPr>
            <a:r>
              <a:t>The address customers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3108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900"/>
              </a:spcAft>
              <a:defRPr sz="1250">
                <a:solidFill>
                  <a:srgbClr val="141414"/>
                </a:solidFill>
                <a:latin typeface="Calibri"/>
              </a:defRPr>
            </a:pPr>
            <a:r>
              <a:t>•  e.g. luckyliontrece.com</a:t>
            </a:r>
          </a:p>
          <a:p>
            <a:pPr marL="210312" indent="-210312">
              <a:lnSpc>
                <a:spcPct val="122000"/>
              </a:lnSpc>
              <a:spcAft>
                <a:spcPts val="900"/>
              </a:spcAft>
              <a:defRPr sz="1250">
                <a:solidFill>
                  <a:srgbClr val="141414"/>
                </a:solidFill>
                <a:latin typeface="Calibri"/>
              </a:defRPr>
            </a:pPr>
            <a:r>
              <a:t>•  Rented per YEAR</a:t>
            </a:r>
          </a:p>
          <a:p>
            <a:pPr marL="210312" indent="-210312">
              <a:lnSpc>
                <a:spcPct val="122000"/>
              </a:lnSpc>
              <a:spcAft>
                <a:spcPts val="900"/>
              </a:spcAft>
              <a:defRPr sz="1250">
                <a:solidFill>
                  <a:srgbClr val="141414"/>
                </a:solidFill>
                <a:latin typeface="Calibri"/>
              </a:defRPr>
            </a:pPr>
            <a:r>
              <a:t>•  Like the shop's signboard +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56616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4825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3400" b="0">
                <a:solidFill>
                  <a:srgbClr val="141414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900" b="1">
                <a:solidFill>
                  <a:srgbClr val="E11B22"/>
                </a:solidFill>
                <a:latin typeface="Calibri"/>
              </a:defRPr>
            </a:pPr>
            <a:r>
              <a:t>2 ·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200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6B707B"/>
                </a:solidFill>
                <a:latin typeface="Calibri"/>
              </a:defRPr>
            </a:pPr>
            <a:r>
              <a:t>Where the data lives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703320"/>
            <a:ext cx="3108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900"/>
              </a:spcAft>
              <a:defRPr sz="1250">
                <a:solidFill>
                  <a:srgbClr val="141414"/>
                </a:solidFill>
                <a:latin typeface="Calibri"/>
              </a:defRPr>
            </a:pPr>
            <a:r>
              <a:t>•  Customers, repairs, stock, messages</a:t>
            </a:r>
          </a:p>
          <a:p>
            <a:pPr marL="210312" indent="-210312">
              <a:lnSpc>
                <a:spcPct val="122000"/>
              </a:lnSpc>
              <a:spcAft>
                <a:spcPts val="900"/>
              </a:spcAft>
              <a:defRPr sz="1250">
                <a:solidFill>
                  <a:srgbClr val="141414"/>
                </a:solidFill>
                <a:latin typeface="Calibri"/>
              </a:defRPr>
            </a:pPr>
            <a:r>
              <a:t>•  We use Supabase</a:t>
            </a:r>
          </a:p>
          <a:p>
            <a:pPr marL="210312" indent="-210312">
              <a:lnSpc>
                <a:spcPct val="122000"/>
              </a:lnSpc>
              <a:spcAft>
                <a:spcPts val="900"/>
              </a:spcAft>
              <a:defRPr sz="1250">
                <a:solidFill>
                  <a:srgbClr val="141414"/>
                </a:solidFill>
                <a:latin typeface="Calibri"/>
              </a:defRPr>
            </a:pPr>
            <a:r>
              <a:t>•  Like the filing cabinet /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828800"/>
            <a:ext cx="356616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04825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3400" b="0">
                <a:solidFill>
                  <a:srgbClr val="141414"/>
                </a:solidFill>
                <a:latin typeface="Calibri"/>
              </a:defRPr>
            </a:pPr>
            <a:r>
              <a:t>🖥️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900" b="1">
                <a:solidFill>
                  <a:srgbClr val="E11B22"/>
                </a:solidFill>
                <a:latin typeface="Calibri"/>
              </a:defRPr>
            </a:pPr>
            <a:r>
              <a:t>3 · 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200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6B707B"/>
                </a:solidFill>
                <a:latin typeface="Calibri"/>
              </a:defRPr>
            </a:pPr>
            <a:r>
              <a:t>Serves the web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703320"/>
            <a:ext cx="3108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900"/>
              </a:spcAft>
              <a:defRPr sz="1250">
                <a:solidFill>
                  <a:srgbClr val="141414"/>
                </a:solidFill>
                <a:latin typeface="Calibri"/>
              </a:defRPr>
            </a:pPr>
            <a:r>
              <a:t>•  Shows the site to visitors</a:t>
            </a:r>
          </a:p>
          <a:p>
            <a:pPr marL="210312" indent="-210312">
              <a:lnSpc>
                <a:spcPct val="122000"/>
              </a:lnSpc>
              <a:spcAft>
                <a:spcPts val="900"/>
              </a:spcAft>
              <a:defRPr sz="1250">
                <a:solidFill>
                  <a:srgbClr val="141414"/>
                </a:solidFill>
                <a:latin typeface="Calibri"/>
              </a:defRPr>
            </a:pPr>
            <a:r>
              <a:t>•  We use Netlify</a:t>
            </a:r>
          </a:p>
          <a:p>
            <a:pPr marL="210312" indent="-210312">
              <a:lnSpc>
                <a:spcPct val="122000"/>
              </a:lnSpc>
              <a:spcAft>
                <a:spcPts val="900"/>
              </a:spcAft>
              <a:defRPr sz="1250">
                <a:solidFill>
                  <a:srgbClr val="141414"/>
                </a:solidFill>
                <a:latin typeface="Calibri"/>
              </a:defRPr>
            </a:pPr>
            <a:r>
              <a:t>•  Like renting the shop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82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Lucky Lion eBike — Going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1280160" cy="82296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1">
                <a:solidFill>
                  <a:srgbClr val="E11B22"/>
                </a:solidFill>
                <a:latin typeface="Calibri"/>
              </a:defRPr>
            </a:pPr>
            <a: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it costs — in pesos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1700" b="0">
                <a:solidFill>
                  <a:srgbClr val="C9CCD2"/>
                </a:solidFill>
                <a:latin typeface="Calibri"/>
              </a:defRPr>
            </a:pPr>
            <a:r>
              <a:t>Real prices as of September 2026 (1 US$ ≈ ₱62). Prices change; figures are rounded.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Lucky Lion eBike — Going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960120" cy="64008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2700" b="1">
                <a:solidFill>
                  <a:srgbClr val="141414"/>
                </a:solidFill>
                <a:latin typeface="Calibri"/>
              </a:defRPr>
            </a:pPr>
            <a:r>
              <a:t>Price of each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6B707B"/>
                </a:solidFill>
                <a:latin typeface="Calibri"/>
              </a:defRPr>
            </a:pPr>
            <a:r>
              <a:t>Two of the three can start completely free.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3566160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6654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3000" b="0">
                <a:solidFill>
                  <a:srgbClr val="141414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88336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700" b="1">
                <a:solidFill>
                  <a:srgbClr val="141414"/>
                </a:solidFill>
                <a:latin typeface="Calibri"/>
              </a:defRPr>
            </a:pPr>
            <a:r>
              <a:t>Domain (.com)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45536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2300" b="1">
                <a:solidFill>
                  <a:srgbClr val="E11B22"/>
                </a:solidFill>
                <a:latin typeface="Calibri"/>
              </a:defRPr>
            </a:pPr>
            <a:r>
              <a:t>≈ ₱900 – ₱1,100 /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85616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6B707B"/>
                </a:solidFill>
                <a:latin typeface="Calibri"/>
              </a:defRPr>
            </a:pPr>
            <a:r>
              <a:t>≈ ₱75–90 per month. Same price at any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315650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700"/>
              </a:spcAft>
              <a:defRPr sz="1150">
                <a:solidFill>
                  <a:srgbClr val="141414"/>
                </a:solidFill>
                <a:latin typeface="Calibri"/>
              </a:defRPr>
            </a:pPr>
            <a:r>
              <a:t>•  First year often on promo (~₱400)</a:t>
            </a:r>
          </a:p>
          <a:p>
            <a:pPr marL="210312" indent="-210312">
              <a:lnSpc>
                <a:spcPct val="122000"/>
              </a:lnSpc>
              <a:spcAft>
                <a:spcPts val="700"/>
              </a:spcAft>
              <a:defRPr sz="1150">
                <a:solidFill>
                  <a:srgbClr val="141414"/>
                </a:solidFill>
                <a:latin typeface="Calibri"/>
              </a:defRPr>
            </a:pPr>
            <a:r>
              <a:t>•  Renews every year after</a:t>
            </a:r>
          </a:p>
          <a:p>
            <a:pPr marL="210312" indent="-210312">
              <a:lnSpc>
                <a:spcPct val="122000"/>
              </a:lnSpc>
              <a:spcAft>
                <a:spcPts val="700"/>
              </a:spcAft>
              <a:defRPr sz="1150">
                <a:solidFill>
                  <a:srgbClr val="141414"/>
                </a:solidFill>
                <a:latin typeface="Calibri"/>
              </a:defRPr>
            </a:pPr>
            <a:r>
              <a:t>•  .com.ph option costs more (~₱1,500+/yr)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47088"/>
            <a:ext cx="3566160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06654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3000" b="0">
                <a:solidFill>
                  <a:srgbClr val="141414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688336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700" b="1">
                <a:solidFill>
                  <a:srgbClr val="141414"/>
                </a:solidFill>
                <a:latin typeface="Calibri"/>
              </a:defRPr>
            </a:pPr>
            <a:r>
              <a:t>Database (Supabase)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145536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2300" b="1">
                <a:solidFill>
                  <a:srgbClr val="E11B22"/>
                </a:solidFill>
                <a:latin typeface="Calibri"/>
              </a:defRPr>
            </a:pPr>
            <a:r>
              <a:t>Free  →  ₱1,560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785616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6B707B"/>
                </a:solidFill>
                <a:latin typeface="Calibri"/>
              </a:defRPr>
            </a:pPr>
            <a:r>
              <a:t>Free tier works to start; Pro for a real live site.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4389120"/>
            <a:ext cx="315650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700"/>
              </a:spcAft>
              <a:defRPr sz="1150">
                <a:solidFill>
                  <a:srgbClr val="141414"/>
                </a:solidFill>
                <a:latin typeface="Calibri"/>
              </a:defRPr>
            </a:pPr>
            <a:r>
              <a:t>•  Free: sleeps if idle a week, no backups</a:t>
            </a:r>
          </a:p>
          <a:p>
            <a:pPr marL="210312" indent="-210312">
              <a:lnSpc>
                <a:spcPct val="122000"/>
              </a:lnSpc>
              <a:spcAft>
                <a:spcPts val="700"/>
              </a:spcAft>
              <a:defRPr sz="1150">
                <a:solidFill>
                  <a:srgbClr val="141414"/>
                </a:solidFill>
                <a:latin typeface="Calibri"/>
              </a:defRPr>
            </a:pPr>
            <a:r>
              <a:t>•  Pro (~US$25): always on + daily backups</a:t>
            </a:r>
          </a:p>
          <a:p>
            <a:pPr marL="210312" indent="-210312">
              <a:lnSpc>
                <a:spcPct val="122000"/>
              </a:lnSpc>
              <a:spcAft>
                <a:spcPts val="700"/>
              </a:spcAft>
              <a:defRPr sz="1150">
                <a:solidFill>
                  <a:srgbClr val="141414"/>
                </a:solidFill>
                <a:latin typeface="Calibri"/>
              </a:defRPr>
            </a:pPr>
            <a:r>
              <a:t>•  Heavy use adds ₱2,200–12,500/mo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847088"/>
            <a:ext cx="3566160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06654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3000" b="0">
                <a:solidFill>
                  <a:srgbClr val="141414"/>
                </a:solidFill>
                <a:latin typeface="Calibri"/>
              </a:defRPr>
            </a:pPr>
            <a:r>
              <a:t>🖥️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88336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700" b="1">
                <a:solidFill>
                  <a:srgbClr val="141414"/>
                </a:solidFill>
                <a:latin typeface="Calibri"/>
              </a:defRPr>
            </a:pPr>
            <a:r>
              <a:t>Hosting (Netlify)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145536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2300" b="1">
                <a:solidFill>
                  <a:srgbClr val="E11B22"/>
                </a:solidFill>
                <a:latin typeface="Calibri"/>
              </a:defRPr>
            </a:pPr>
            <a:r>
              <a:t>Free  →  ₱1,250 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785616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6B707B"/>
                </a:solidFill>
                <a:latin typeface="Calibri"/>
              </a:defRPr>
            </a:pPr>
            <a:r>
              <a:t>Free tier is enough for a small local shop.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389120"/>
            <a:ext cx="315650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700"/>
              </a:spcAft>
              <a:defRPr sz="1150">
                <a:solidFill>
                  <a:srgbClr val="141414"/>
                </a:solidFill>
                <a:latin typeface="Calibri"/>
              </a:defRPr>
            </a:pPr>
            <a:r>
              <a:t>•  Free: ~15 GB traffic / month</a:t>
            </a:r>
          </a:p>
          <a:p>
            <a:pPr marL="210312" indent="-210312">
              <a:lnSpc>
                <a:spcPct val="122000"/>
              </a:lnSpc>
              <a:spcAft>
                <a:spcPts val="700"/>
              </a:spcAft>
              <a:defRPr sz="1150">
                <a:solidFill>
                  <a:srgbClr val="141414"/>
                </a:solidFill>
                <a:latin typeface="Calibri"/>
              </a:defRPr>
            </a:pPr>
            <a:r>
              <a:t>•  Pro (~US$20) only if traffic grows</a:t>
            </a:r>
          </a:p>
          <a:p>
            <a:pPr marL="210312" indent="-210312">
              <a:lnSpc>
                <a:spcPct val="122000"/>
              </a:lnSpc>
              <a:spcAft>
                <a:spcPts val="700"/>
              </a:spcAft>
              <a:defRPr sz="1150">
                <a:solidFill>
                  <a:srgbClr val="141414"/>
                </a:solidFill>
                <a:latin typeface="Calibri"/>
              </a:defRPr>
            </a:pPr>
            <a:r>
              <a:t>•  No cost until you outgrow 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82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Lucky Lion eBike — Going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960120" cy="64008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2700" b="1">
                <a:solidFill>
                  <a:srgbClr val="141414"/>
                </a:solidFill>
                <a:latin typeface="Calibri"/>
              </a:defRPr>
            </a:pPr>
            <a:r>
              <a:t>Cost by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6B707B"/>
                </a:solidFill>
                <a:latin typeface="Calibri"/>
              </a:defRPr>
            </a:pPr>
            <a:r>
              <a:t>What you pay grows with the number of customers / traffic — not before.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3520440" cy="640080"/>
          </a:xfrm>
          <a:prstGeom prst="rect">
            <a:avLst/>
          </a:prstGeom>
          <a:solidFill>
            <a:srgbClr val="14141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Scale (customers / traffic)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087368" y="1847088"/>
            <a:ext cx="1143000" cy="640080"/>
          </a:xfrm>
          <a:prstGeom prst="rect">
            <a:avLst/>
          </a:prstGeom>
          <a:solidFill>
            <a:srgbClr val="14141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230368" y="1847088"/>
            <a:ext cx="1874519" cy="640080"/>
          </a:xfrm>
          <a:prstGeom prst="rect">
            <a:avLst/>
          </a:prstGeom>
          <a:solidFill>
            <a:srgbClr val="14141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4887" y="1847088"/>
            <a:ext cx="1371600" cy="640080"/>
          </a:xfrm>
          <a:prstGeom prst="rect">
            <a:avLst/>
          </a:prstGeom>
          <a:solidFill>
            <a:srgbClr val="14141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6487" y="1847088"/>
            <a:ext cx="1965960" cy="640080"/>
          </a:xfrm>
          <a:prstGeom prst="rect">
            <a:avLst/>
          </a:prstGeom>
          <a:solidFill>
            <a:srgbClr val="14141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≈ /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42447" y="1847088"/>
            <a:ext cx="1691640" cy="640080"/>
          </a:xfrm>
          <a:prstGeom prst="rect">
            <a:avLst/>
          </a:prstGeom>
          <a:solidFill>
            <a:srgbClr val="14141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≈ /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87168"/>
            <a:ext cx="35204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l">
              <a:defRPr sz="1200" b="0">
                <a:solidFill>
                  <a:srgbClr val="141414"/>
                </a:solidFill>
                <a:latin typeface="Calibri"/>
              </a:defRPr>
            </a:pPr>
            <a:r>
              <a:t>Starter · 1–100  (launch / demo)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2487168"/>
            <a:ext cx="11430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41414"/>
                </a:solidFill>
                <a:latin typeface="Calibri"/>
              </a:defRPr>
            </a:pPr>
            <a:r>
              <a:t>₱85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0368" y="2487168"/>
            <a:ext cx="1874519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B8A4A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04887" y="2487168"/>
            <a:ext cx="1371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B8A4A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76487" y="2487168"/>
            <a:ext cx="1965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141414"/>
                </a:solidFill>
                <a:latin typeface="Calibri"/>
              </a:defRPr>
            </a:pPr>
            <a:r>
              <a:t>~₱85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42447" y="2487168"/>
            <a:ext cx="1691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141414"/>
                </a:solidFill>
                <a:latin typeface="Calibri"/>
              </a:defRPr>
            </a:pPr>
            <a:r>
              <a:t>~₱1,000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127248"/>
            <a:ext cx="352044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l">
              <a:defRPr sz="1200" b="0">
                <a:solidFill>
                  <a:srgbClr val="141414"/>
                </a:solidFill>
                <a:latin typeface="Calibri"/>
              </a:defRPr>
            </a:pPr>
            <a:r>
              <a:t>Growing · 100–1,000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87368" y="3127248"/>
            <a:ext cx="114300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41414"/>
                </a:solidFill>
                <a:latin typeface="Calibri"/>
              </a:defRPr>
            </a:pPr>
            <a:r>
              <a:t>₱85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0368" y="3127248"/>
            <a:ext cx="1874519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41414"/>
                </a:solidFill>
                <a:latin typeface="Calibri"/>
              </a:defRPr>
            </a:pPr>
            <a:r>
              <a:t>₱1,560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04887" y="3127248"/>
            <a:ext cx="137160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B8A4A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6487" y="3127248"/>
            <a:ext cx="196596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141414"/>
                </a:solidFill>
                <a:latin typeface="Calibri"/>
              </a:defRPr>
            </a:pPr>
            <a:r>
              <a:t>~₱1,645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42447" y="3127248"/>
            <a:ext cx="169164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141414"/>
                </a:solidFill>
                <a:latin typeface="Calibri"/>
              </a:defRPr>
            </a:pPr>
            <a:r>
              <a:t>~₱19,700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767328"/>
            <a:ext cx="35204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l">
              <a:defRPr sz="1200" b="0">
                <a:solidFill>
                  <a:srgbClr val="141414"/>
                </a:solidFill>
                <a:latin typeface="Calibri"/>
              </a:defRPr>
            </a:pPr>
            <a:r>
              <a:t>Established · 1,000–5,000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7368" y="3767328"/>
            <a:ext cx="11430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41414"/>
                </a:solidFill>
                <a:latin typeface="Calibri"/>
              </a:defRPr>
            </a:pPr>
            <a:r>
              <a:t>₱85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3767328"/>
            <a:ext cx="1874519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41414"/>
                </a:solidFill>
                <a:latin typeface="Calibri"/>
              </a:defRPr>
            </a:pPr>
            <a:r>
              <a:t>₱1,560–2,200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04887" y="3767328"/>
            <a:ext cx="1371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41414"/>
                </a:solidFill>
                <a:latin typeface="Calibri"/>
              </a:defRPr>
            </a:pPr>
            <a:r>
              <a:t>₱0–1,250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6487" y="3767328"/>
            <a:ext cx="1965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141414"/>
                </a:solidFill>
                <a:latin typeface="Calibri"/>
              </a:defRPr>
            </a:pPr>
            <a:r>
              <a:t>~₱1,650–3,450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2447" y="3767328"/>
            <a:ext cx="1691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141414"/>
                </a:solidFill>
                <a:latin typeface="Calibri"/>
              </a:defRPr>
            </a:pPr>
            <a:r>
              <a:t>~₱20k–41k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407408"/>
            <a:ext cx="352044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l">
              <a:defRPr sz="1200" b="0">
                <a:solidFill>
                  <a:srgbClr val="141414"/>
                </a:solidFill>
                <a:latin typeface="Calibri"/>
              </a:defRPr>
            </a:pPr>
            <a:r>
              <a:t>Large · 5,000+ / heavy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87368" y="4407408"/>
            <a:ext cx="114300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41414"/>
                </a:solidFill>
                <a:latin typeface="Calibri"/>
              </a:defRPr>
            </a:pPr>
            <a:r>
              <a:t>₱85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4407408"/>
            <a:ext cx="1874519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41414"/>
                </a:solidFill>
                <a:latin typeface="Calibri"/>
              </a:defRPr>
            </a:pPr>
            <a:r>
              <a:t>₱2,200–12,500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4887" y="4407408"/>
            <a:ext cx="137160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0">
                <a:solidFill>
                  <a:srgbClr val="141414"/>
                </a:solidFill>
                <a:latin typeface="Calibri"/>
              </a:defRPr>
            </a:pPr>
            <a:r>
              <a:t>₱1,250+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76487" y="4407408"/>
            <a:ext cx="196596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141414"/>
                </a:solidFill>
                <a:latin typeface="Calibri"/>
              </a:defRPr>
            </a:pPr>
            <a:r>
              <a:t>~₱3,500–13,800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42447" y="4407408"/>
            <a:ext cx="1691640" cy="640080"/>
          </a:xfrm>
          <a:prstGeom prst="rect">
            <a:avLst/>
          </a:prstGeom>
          <a:solidFill>
            <a:srgbClr val="F1F3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54864" tIns="0" bIns="0"/>
          <a:lstStyle/>
          <a:p>
            <a:pPr algn="ctr">
              <a:defRPr sz="1200" b="1">
                <a:solidFill>
                  <a:srgbClr val="141414"/>
                </a:solidFill>
                <a:latin typeface="Calibri"/>
              </a:defRPr>
            </a:pPr>
            <a:r>
              <a:t>~₱42k–166k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157216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6B707B"/>
                </a:solidFill>
                <a:latin typeface="Calibri"/>
              </a:defRPr>
            </a:pPr>
            <a:r>
              <a:t>Free Supabase pauses when idle and has no backups — perfect for the demo and a soft launch, but move to Pro (~₱1,560/mo) once the site is a real always-on service.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382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Lucky Lion eBike — Going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960120" cy="64008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2700" b="1">
                <a:solidFill>
                  <a:srgbClr val="141414"/>
                </a:solidFill>
                <a:latin typeface="Calibri"/>
              </a:defRPr>
            </a:pPr>
            <a:r>
              <a:t>Recommendation for Lucky 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6B707B"/>
                </a:solidFill>
                <a:latin typeface="Calibri"/>
              </a:defRPr>
            </a:pPr>
            <a:r>
              <a:t>Start almost free, pay for the database once it's truly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539496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84831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800" b="1">
                <a:solidFill>
                  <a:srgbClr val="E11B22"/>
                </a:solidFill>
                <a:latin typeface="Calibri"/>
              </a:defRPr>
            </a:pPr>
            <a:r>
              <a:t>① To launch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7860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2200" b="1">
                <a:solidFill>
                  <a:srgbClr val="141414"/>
                </a:solidFill>
                <a:latin typeface="Calibri"/>
              </a:defRPr>
            </a:pPr>
            <a:r>
              <a:t>≈ ₱1,000 /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004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10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Buy the domain (luckyliontrece.com)</a:t>
            </a:r>
          </a:p>
          <a:p>
            <a:pPr marL="210312" indent="-210312">
              <a:lnSpc>
                <a:spcPct val="122000"/>
              </a:lnSpc>
              <a:spcAft>
                <a:spcPts val="10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Supabase Free + Netlify Free</a:t>
            </a:r>
          </a:p>
          <a:p>
            <a:pPr marL="210312" indent="-210312">
              <a:lnSpc>
                <a:spcPct val="122000"/>
              </a:lnSpc>
              <a:spcAft>
                <a:spcPts val="10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Good for the first customers &amp; the demo</a:t>
            </a:r>
          </a:p>
          <a:p>
            <a:pPr marL="210312" indent="-210312">
              <a:lnSpc>
                <a:spcPct val="122000"/>
              </a:lnSpc>
              <a:spcAft>
                <a:spcPts val="10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Note: free database sleeps when idle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5394960" cy="365760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84831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800" b="1">
                <a:solidFill>
                  <a:srgbClr val="E11B22"/>
                </a:solidFill>
                <a:latin typeface="Calibri"/>
              </a:defRPr>
            </a:pPr>
            <a:r>
              <a:t>② When truly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57860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≈ ₱1,650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32004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1000"/>
              </a:spcAft>
              <a:defRPr sz="1350">
                <a:solidFill>
                  <a:srgbClr val="C9CCD2"/>
                </a:solidFill>
                <a:latin typeface="Calibri"/>
              </a:defRPr>
            </a:pPr>
            <a:r>
              <a:t>•  Upgrade the database to Supabase Pro</a:t>
            </a:r>
          </a:p>
          <a:p>
            <a:pPr marL="210312" indent="-210312">
              <a:lnSpc>
                <a:spcPct val="122000"/>
              </a:lnSpc>
              <a:spcAft>
                <a:spcPts val="1000"/>
              </a:spcAft>
              <a:defRPr sz="1350">
                <a:solidFill>
                  <a:srgbClr val="C9CCD2"/>
                </a:solidFill>
                <a:latin typeface="Calibri"/>
              </a:defRPr>
            </a:pPr>
            <a:r>
              <a:t>•  Always on — never sleeps</a:t>
            </a:r>
          </a:p>
          <a:p>
            <a:pPr marL="210312" indent="-210312">
              <a:lnSpc>
                <a:spcPct val="122000"/>
              </a:lnSpc>
              <a:spcAft>
                <a:spcPts val="1000"/>
              </a:spcAft>
              <a:defRPr sz="1350">
                <a:solidFill>
                  <a:srgbClr val="C9CCD2"/>
                </a:solidFill>
                <a:latin typeface="Calibri"/>
              </a:defRPr>
            </a:pPr>
            <a:r>
              <a:t>•  Automatic daily backups</a:t>
            </a:r>
          </a:p>
          <a:p>
            <a:pPr marL="210312" indent="-210312">
              <a:lnSpc>
                <a:spcPct val="122000"/>
              </a:lnSpc>
              <a:spcAft>
                <a:spcPts val="1000"/>
              </a:spcAft>
              <a:defRPr sz="1350">
                <a:solidFill>
                  <a:srgbClr val="C9CCD2"/>
                </a:solidFill>
                <a:latin typeface="Calibri"/>
              </a:defRPr>
            </a:pPr>
            <a:r>
              <a:t>•  Hosting stays free until traffic grows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82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Lucky Lion eBike — Going Live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1280160" cy="82296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1">
                <a:solidFill>
                  <a:srgbClr val="E11B22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How we put it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1700" b="0">
                <a:solidFill>
                  <a:srgbClr val="C9CCD2"/>
                </a:solidFill>
                <a:latin typeface="Calibri"/>
              </a:defRPr>
            </a:pPr>
            <a:r>
              <a:t>The steps to publish an update, and what's one-time vs ongoing.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Lucky Lion eBike — Going 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960120" cy="64008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2700" b="1">
                <a:solidFill>
                  <a:srgbClr val="141414"/>
                </a:solidFill>
                <a:latin typeface="Calibri"/>
              </a:defRPr>
            </a:pPr>
            <a:r>
              <a:t>Publishing the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6B707B"/>
                </a:solidFill>
                <a:latin typeface="Calibri"/>
              </a:defRPr>
            </a:pPr>
            <a:r>
              <a:t>How a new version goes live — no coding needed at this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9384"/>
            <a:ext cx="502920" cy="502920"/>
          </a:xfrm>
          <a:prstGeom prst="round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874519"/>
            <a:ext cx="10332720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1984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600" b="1">
                <a:solidFill>
                  <a:srgbClr val="141414"/>
                </a:solidFill>
                <a:latin typeface="Calibri"/>
              </a:defRPr>
            </a:pPr>
            <a:r>
              <a:t>Build the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3317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250" b="0">
                <a:solidFill>
                  <a:srgbClr val="6B707B"/>
                </a:solidFill>
                <a:latin typeface="Calibri"/>
              </a:defRPr>
            </a:pPr>
            <a:r>
              <a:t>The site files are prepared and packed into one ZIP.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53512"/>
            <a:ext cx="502920" cy="502920"/>
          </a:xfrm>
          <a:prstGeom prst="round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2898648"/>
            <a:ext cx="10332720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17904" y="30083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600" b="1">
                <a:solidFill>
                  <a:srgbClr val="141414"/>
                </a:solidFill>
                <a:latin typeface="Calibri"/>
              </a:defRPr>
            </a:pPr>
            <a:r>
              <a:t>Upload to Netlify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355848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250" b="0">
                <a:solidFill>
                  <a:srgbClr val="6B707B"/>
                </a:solidFill>
                <a:latin typeface="Calibri"/>
              </a:defRPr>
            </a:pPr>
            <a:r>
              <a:t>Drag the ZIP onto the Netlify dashboard → it goes live in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77639"/>
            <a:ext cx="502920" cy="502920"/>
          </a:xfrm>
          <a:prstGeom prst="round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3922776"/>
            <a:ext cx="10332720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4" y="40325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600" b="1">
                <a:solidFill>
                  <a:srgbClr val="141414"/>
                </a:solidFill>
                <a:latin typeface="Calibri"/>
              </a:defRPr>
            </a:pPr>
            <a:r>
              <a:t>Run database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437997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250" b="0">
                <a:solidFill>
                  <a:srgbClr val="6B707B"/>
                </a:solidFill>
                <a:latin typeface="Calibri"/>
              </a:defRPr>
            </a:pPr>
            <a:r>
              <a:t>Any new database changes are pasted once into Supabase's SQL editor.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001768"/>
            <a:ext cx="502920" cy="502920"/>
          </a:xfrm>
          <a:prstGeom prst="round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946904"/>
            <a:ext cx="10332720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17904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600" b="1">
                <a:solidFill>
                  <a:srgbClr val="141414"/>
                </a:solidFill>
                <a:latin typeface="Calibri"/>
              </a:defRPr>
            </a:pPr>
            <a:r>
              <a:t>Point the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5404104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250" b="0">
                <a:solidFill>
                  <a:srgbClr val="6B707B"/>
                </a:solidFill>
                <a:latin typeface="Calibri"/>
              </a:defRPr>
            </a:pPr>
            <a:r>
              <a:t>One-time: connect luckyliontrece.com to Netlify (then it just works).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82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Lucky Lion eBike — Going 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960120" cy="64008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2700" b="1">
                <a:solidFill>
                  <a:srgbClr val="141414"/>
                </a:solidFill>
                <a:latin typeface="Calibri"/>
              </a:defRPr>
            </a:pPr>
            <a:r>
              <a:t>One-time vs ongoing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6B707B"/>
                </a:solidFill>
                <a:latin typeface="Calibri"/>
              </a:defRPr>
            </a:pPr>
            <a:r>
              <a:t>So the office knows exactly what recurs.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539496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84831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800" b="1">
                <a:solidFill>
                  <a:srgbClr val="E11B22"/>
                </a:solidFill>
                <a:latin typeface="Calibri"/>
              </a:defRPr>
            </a:pPr>
            <a:r>
              <a:t>One-time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Register the domain</a:t>
            </a:r>
          </a:p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Create the Supabase database project</a:t>
            </a:r>
          </a:p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Run the setup SQL once</a:t>
            </a:r>
          </a:p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Connect the domain to the hosting</a:t>
            </a:r>
          </a:p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≈ a few hundred pesos + an afternoon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874519"/>
            <a:ext cx="539496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084831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800" b="1">
                <a:solidFill>
                  <a:srgbClr val="E11B22"/>
                </a:solidFill>
                <a:latin typeface="Calibri"/>
              </a:defRPr>
            </a:pPr>
            <a:r>
              <a:t>Ongoing (recurring)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6974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Domain renewal — once a year (~₱1,000)</a:t>
            </a:r>
          </a:p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Database — monthly, only on Pro (~₱1,560)</a:t>
            </a:r>
          </a:p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Hosting — free unless traffic is heavy</a:t>
            </a:r>
          </a:p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No per-customer or per-sale fees</a:t>
            </a:r>
          </a:p>
          <a:p>
            <a:pPr marL="210312" indent="-210312">
              <a:lnSpc>
                <a:spcPct val="122000"/>
              </a:lnSpc>
              <a:spcAft>
                <a:spcPts val="1100"/>
              </a:spcAft>
              <a:defRPr sz="1350">
                <a:solidFill>
                  <a:srgbClr val="141414"/>
                </a:solidFill>
                <a:latin typeface="Calibri"/>
              </a:defRPr>
            </a:pPr>
            <a:r>
              <a:t>•  Cancel/downgrade anytime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82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6B707B"/>
                </a:solidFill>
                <a:latin typeface="Calibri"/>
              </a:defRPr>
            </a:pPr>
            <a:r>
              <a:t>Lucky Lion eBike — Going 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011680"/>
            <a:ext cx="1280160" cy="82296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Start free. Scale as customers grow.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  <a:defRPr sz="1700" b="0">
                <a:solidFill>
                  <a:srgbClr val="C9CCD2"/>
                </a:solidFill>
                <a:latin typeface="Calibri"/>
              </a:defRPr>
            </a:pPr>
            <a:r>
              <a:t>Launch for about ₱1,000 in the first year (domain only).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defRPr sz="1700" b="0">
                <a:solidFill>
                  <a:srgbClr val="C9CCD2"/>
                </a:solidFill>
                <a:latin typeface="Calibri"/>
              </a:defRPr>
            </a:pPr>
            <a:r>
              <a:t>Budget roughly ₱1,650 / month once it's a real always-on service.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defRPr sz="1700" b="0">
                <a:solidFill>
                  <a:srgbClr val="C9CCD2"/>
                </a:solidFill>
                <a:latin typeface="Calibri"/>
              </a:defRPr>
            </a:pPr>
            <a:r>
              <a:t>Everything else grows only when the number of customers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6B707B"/>
                </a:solidFill>
                <a:latin typeface="Calibri"/>
              </a:defRPr>
            </a:pPr>
            <a:r>
              <a:t>Prices: Sept 2026 estimates · 1 US$ ≈ ₱62 · subject to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